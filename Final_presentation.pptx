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Bold"/>
      <p:regular r:id="rId201316"/>
    </p:embeddedFont>
    <p:embeddedFont>
      <p:font typeface="Open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5963"/>
            <a:ext cx="10868745" cy="774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JourneySync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356682" y="1746250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Cross-Channel Identity Resolution &amp; Customer Journey Stitching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28223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 Customer. Four Systems. Zero Context.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32097" y="3099296"/>
            <a:ext cx="5474059" cy="3042741"/>
          </a:xfrm>
          <a:prstGeom prst="roundRect">
            <a:avLst>
              <a:gd name="adj" fmla="val 885"/>
            </a:avLst>
          </a:prstGeom>
          <a:solidFill>
            <a:srgbClr val="403CCF"/>
          </a:solidFill>
          <a:ln/>
        </p:spPr>
      </p:sp>
      <p:sp>
        <p:nvSpPr>
          <p:cNvPr id="6" name="Text 4"/>
          <p:cNvSpPr/>
          <p:nvPr/>
        </p:nvSpPr>
        <p:spPr>
          <a:xfrm>
            <a:off x="711579" y="3269853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11579" y="3720902"/>
            <a:ext cx="5115095" cy="226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Asha Iyer is an AmEx Platinum cardmember. Yesterday, her payment failed on the app. She called the helpline — the call center agent had no idea. She walked into the bank branch today; the manager smiled and asked, "How can I help you?" 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context, no history, no idea that Asha is 24 hours into a frustration spiral.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AmEx has her data in 4 systems.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 one has her story.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267" y="326985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Solution: JourneySync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21267" y="3720902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 me show you what happens when someone DOES have her story.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1267" y="4434582"/>
            <a:ext cx="5215303" cy="129927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data, not more data.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and backtrackable.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 insights, not just theoretical.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screen, One story, One action.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913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₹91–103 Crore Opportunity this year.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91605"/>
            <a:ext cx="11478330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Based on industry data and our model estimates for the AmEx India premium card portfolio: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54051"/>
            <a:ext cx="5289219" cy="12797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3934" y="1585714"/>
            <a:ext cx="497510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Churn Prevention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43934" y="1846659"/>
            <a:ext cx="4975101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≈23,676 cards retained a year. 1.30M cards × 13% attrition × 14pp better save rate × ₹19.5k.</a:t>
            </a:r>
            <a:endParaRPr lang="en-US" sz="900" dirty="0"/>
          </a:p>
          <a:p>
            <a:pPr algn="l" indent="0" marL="0">
              <a:lnSpc>
                <a:spcPct val="109000"/>
              </a:lnSpc>
              <a:spcAft>
                <a:spcPts val="500"/>
              </a:spcAft>
              <a:buNone/>
            </a:pPr>
            <a:endParaRPr lang="en-US" sz="9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Annual impact: ₹46–58Cr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08684"/>
            <a:ext cx="5289219" cy="12797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3934" y="2940348"/>
            <a:ext cx="497510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Cross-Sell Recovery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43934" y="3201293"/>
            <a:ext cx="4975101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Funnel drop-off recovered across channels. ₹71,121Cr portfolio spend × 1.5% conversion × 3.56% revenue yield.</a:t>
            </a:r>
            <a:endParaRPr lang="en-US" sz="900" dirty="0"/>
          </a:p>
          <a:p>
            <a:pPr algn="l" indent="0" marL="0">
              <a:lnSpc>
                <a:spcPct val="109000"/>
              </a:lnSpc>
              <a:spcAft>
                <a:spcPts val="500"/>
              </a:spcAft>
              <a:buNone/>
            </a:pPr>
            <a:endParaRPr lang="en-US" sz="9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Annual impact: ₹38Cr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63318"/>
            <a:ext cx="5289219" cy="9019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3934" y="4294981"/>
            <a:ext cx="497510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Handle-Time Reduction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43934" y="4555927"/>
            <a:ext cx="4975101" cy="377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1.8 minutes off a 9-minute contact. 2.60M contacts × ₹139 × 20%.</a:t>
            </a:r>
            <a:endParaRPr lang="en-US" sz="9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Annual impact: ₹7.2Cr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61475" y="5149552"/>
            <a:ext cx="5289219" cy="814784"/>
          </a:xfrm>
          <a:prstGeom prst="roundRect">
            <a:avLst>
              <a:gd name="adj" fmla="val 2191"/>
            </a:avLst>
          </a:prstGeom>
          <a:solidFill>
            <a:srgbClr val="D7D6F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435" y="5270599"/>
            <a:ext cx="148725" cy="1189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8121" y="5246588"/>
            <a:ext cx="4783613" cy="62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Total estimated annual impact: ₹91–103Cr (3.6–4.1% of the ₹2,531Cr that spend implies in card revenue).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Conservative. Prices handle time rather than whole avoided contacts, and excludes NPS, the regulatory value of the audit trail, and the fraud signal a stitched timeline produces.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247351" y="1444724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Innovation Highlights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0" y="1714996"/>
            <a:ext cx="2985021" cy="12747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29046" y="1833959"/>
            <a:ext cx="232572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Conflict Guard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7729046" y="2094905"/>
            <a:ext cx="2325729" cy="775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existing CDPs that silently merge, JourneySync refuses ambiguous matches and surfaces them for human review. This is the compliance answer a regulated financial institution needs.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7363" y="3019425"/>
            <a:ext cx="3849095" cy="12747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294777" y="3293566"/>
            <a:ext cx="31941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Rule-Based Alert Engine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7294777" y="3554512"/>
            <a:ext cx="3194169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Explainable, auditable, no black-box ML. Four churn/CX rules with suggested next-best actions. ML churn scoring is a roadmap item built on top of the audited data.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5276" y="4323854"/>
            <a:ext cx="4713269" cy="127476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60507" y="4675584"/>
            <a:ext cx="406270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Real-Time, Not Batch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6860507" y="4936530"/>
            <a:ext cx="4062708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Sub-second resolution. The intervention happens while the customer is still on the call, not in tomorrow's morning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2026-08-27T10:56:35Z</dcterms:created>
  <dcterms:modified xsi:type="dcterms:W3CDTF">2026-08-27T10:56:35Z</dcterms:modified>
</cp:coreProperties>
</file>